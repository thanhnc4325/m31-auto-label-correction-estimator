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4" r:id="rId16"/>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0">
                <a:solidFill>
                  <a:srgbClr val="4A5560"/>
                </a:solidFill>
                <a:latin typeface="Calibri"/>
              </a:rPr>
              <a:t>MAE (giây), CV 5-fold phân tầng × 50 lần — thấp hơn là tốt hơn</a:t>
            </a:r>
          </a:p>
        </c:rich>
      </c:tx>
      <c:layout/>
      <c:overlay val="0"/>
    </c:title>
    <c:autoTitleDeleted val="0"/>
    <c:plotArea>
      <c:barChart>
        <c:barDir val="col"/>
        <c:grouping val="clustered"/>
        <c:ser>
          <c:idx val="0"/>
          <c:order val="0"/>
          <c:tx>
            <c:strRef>
              <c:f>Sheet1!$B$1</c:f>
              <c:strCache>
                <c:ptCount val="1"/>
                <c:pt idx="0">
                  <c:v>Detection (YOLO)</c:v>
                </c:pt>
              </c:strCache>
            </c:strRef>
          </c:tx>
          <c:spPr>
            <a:solidFill>
              <a:srgbClr val="F2B705"/>
            </a:solidFill>
          </c:spPr>
          <c:cat>
            <c:strRef>
              <c:f>Sheet1!$A$2:$A$5</c:f>
              <c:strCache>
                <c:ptCount val="4"/>
                <c:pt idx="0">
                  <c:v>Luôn đoán 0 s</c:v>
                </c:pt>
                <c:pt idx="1">
                  <c:v>Ridge: số box</c:v>
                </c:pt>
                <c:pt idx="2">
                  <c:v>Ridge: nhóm A</c:v>
                </c:pt>
                <c:pt idx="3">
                  <c:v>Hai bước: logistic</c:v>
                </c:pt>
              </c:strCache>
            </c:strRef>
          </c:cat>
          <c:val>
            <c:numRef>
              <c:f>Sheet1!$B$2:$B$5</c:f>
              <c:numCache>
                <c:formatCode>General</c:formatCode>
                <c:ptCount val="4"/>
                <c:pt idx="0">
                  <c:v>1.17</c:v>
                </c:pt>
                <c:pt idx="1">
                  <c:v>1.976</c:v>
                </c:pt>
                <c:pt idx="2">
                  <c:v>2.07</c:v>
                </c:pt>
                <c:pt idx="3">
                  <c:v>2.106</c:v>
                </c:pt>
              </c:numCache>
            </c:numRef>
          </c:val>
        </c:ser>
        <c:ser>
          <c:idx val="1"/>
          <c:order val="1"/>
          <c:tx>
            <c:strRef>
              <c:f>Sheet1!$C$1</c:f>
              <c:strCache>
                <c:ptCount val="1"/>
                <c:pt idx="0">
                  <c:v>Segmentation (SAM)</c:v>
                </c:pt>
              </c:strCache>
            </c:strRef>
          </c:tx>
          <c:spPr>
            <a:solidFill>
              <a:srgbClr val="6C8EA4"/>
            </a:solidFill>
          </c:spPr>
          <c:cat>
            <c:strRef>
              <c:f>Sheet1!$A$2:$A$5</c:f>
              <c:strCache>
                <c:ptCount val="4"/>
                <c:pt idx="0">
                  <c:v>Luôn đoán 0 s</c:v>
                </c:pt>
                <c:pt idx="1">
                  <c:v>Ridge: số box</c:v>
                </c:pt>
                <c:pt idx="2">
                  <c:v>Ridge: nhóm A</c:v>
                </c:pt>
                <c:pt idx="3">
                  <c:v>Hai bước: logistic</c:v>
                </c:pt>
              </c:strCache>
            </c:strRef>
          </c:cat>
          <c:val>
            <c:numRef>
              <c:f>Sheet1!$C$2:$C$5</c:f>
              <c:numCache>
                <c:formatCode>General</c:formatCode>
                <c:ptCount val="4"/>
                <c:pt idx="0">
                  <c:v>1.685</c:v>
                </c:pt>
                <c:pt idx="1">
                  <c:v>2.845</c:v>
                </c:pt>
                <c:pt idx="2">
                  <c:v>2.984</c:v>
                </c:pt>
                <c:pt idx="3">
                  <c:v>3.006</c:v>
                </c:pt>
              </c:numCache>
            </c:numRef>
          </c:val>
        </c:ser>
        <c:dLbls>
          <c:numFmt formatCode="0.00" sourceLinked="0"/>
          <c:txPr>
            <a:bodyPr/>
            <a:lstStyle/>
            <a:p>
              <a:pPr>
                <a:defRPr sz="1200">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4A5560"/>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E3E6EA"/>
              </a:solidFill>
            </a:ln>
          </c:spPr>
        </c:majorGridlines>
        <c:majorTickMark val="out"/>
        <c:minorTickMark val="none"/>
        <c:tickLblPos val="nextTo"/>
        <c:spPr>
          <a:ln>
            <a:noFill/>
          </a:ln>
        </c:spPr>
        <c:txPr>
          <a:bodyPr/>
          <a:lstStyle/>
          <a:p>
            <a:pPr>
              <a:defRPr sz="1200">
                <a:solidFill>
                  <a:srgbClr val="4A5560"/>
                </a:solidFill>
                <a:latin typeface="Calibri"/>
              </a:defRPr>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M31: công cụ ước lượng công sức sửa nhãn tự động. Nói rõ ngay từ đầu: đây là pilot 100 ảnh, chỉ lớp car, không phải đánh giá trên toàn bộ BDD100K.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biết ảnh nào nên review trước và dự trù công sửa. Bước 2 là M31. Nhấn mạnh ràng buộc: không dùng thông tin chỉ có sau khi sửa làm đầu vào.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dữ liệu local không lên GitHub. Đặc trưng và log nằm ở hai file riêng; log chỉ đi vào phần đánh giá. App có 5 tab theo luồng demo.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100 ảnh, 555 box. 87 ảnh mỗi task có thời gian sửa bằng 0. Hai task có cùng 13 ảnh cần sửa và dùng chung box, nên không phải hai bằng chứng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chính: không mô hình nào có MAE thấp hơn việc luôn đoán 0 giây, ở bất kỳ lần lặp nào. Baseline M31 sai thang đo nên không đưa vào biểu đồ. Kết quả theo fold không ổn định vì mỗi fold chỉ có 2–3 ảnh cần sửa.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xếp hạng: AUC khoảng 0,56, kiểm định hoán vị không có ý nghĩa. Hai tín hiệu đơn biến chỉ là giả thuyết vì đã thử nhiều đặc trưng trên cùng 13 ca.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nhanh 6 giới hạn; nhấn mạnh quyết định không tuyên bố độ chính xác.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M31 hiện là công cụ minh bạch và một khung đánh giá trung thực; muốn có mô hình hữu ích cần thêm dữ liệu sửa và đánh giá trên ảnh mới.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sánh model (pilot 100 ảnh BDD100K, lớp car, RTX 2060): đã thử 22 phiên bản YOLO và 11 phiên bản SAM trên cùng tập pilot, với cấu hình thống nhất trong từng nhóm model. Với cùng box prompt YOLOv8n, SAM2-T/S chạy nhanh hơn SAM-B khoảng 2,2–2,5 lần; IoU trên 92 ảnh có prompt cao hơn nhẹ (+0,012…+0,016), nhưng kết quả chỉ mang tính khám phá. Chất lượng detection chưa xếp hạng được một cách đáng tin cậy vì chỉ 14 ảnh (126 box) có nhãn. Nhóm giữ YOLOv8n + SAM-B làm mặc định; các ứng viên cần được kiểm chứng trên tập ảnh mới có nhãn.</a:t>
            </a:r>
          </a:p>
          <a:p/>
          <a:p>
            <a:r>
              <a:t>Chi tiết phương pháp: YOLO dùng imgsz 640, conf 0,25, NMS theo lớp IoU 0,7, lọc lớp car; precision/recall chấm trên 14 ảnh có nhãn box (126 box), 86 ảnh còn lại không chấm. SAM được đánh giá với cùng 555 box prompt từ YOLOv8n; IoU so với nhãn segmentation BDD100K (car), chỉ số chính trên 92 ảnh có prompt. Khoảng tin cậy bootstrap theo ảnh. Có nhiều phép so sánh trên mẫu nhỏ, chưa hiệu chỉnh, nên không có model nào được coi là tốt nhất; kết quả không đại diện cho toàn bộ BDD100K. Báo cáo: docs/11, docs/12, docs/13.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272E"/>
        </a:solidFill>
        <a:effectLst/>
      </p:bgPr>
    </p:bg>
    <p:spTree>
      <p:nvGrpSpPr>
        <p:cNvPr id="1" name=""/>
        <p:cNvGrpSpPr/>
        <p:nvPr/>
      </p:nvGrpSpPr>
      <p:grpSpPr/>
      <p:sp>
        <p:nvSpPr>
          <p:cNvPr id="2" name="Rectangle 1"/>
          <p:cNvSpPr/>
          <p:nvPr/>
        </p:nvSpPr>
        <p:spPr>
          <a:xfrm>
            <a:off x="5486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1460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48055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4651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784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tle"/>
          <p:cNvSpPr txBox="1"/>
          <p:nvPr/>
        </p:nvSpPr>
        <p:spPr>
          <a:xfrm>
            <a:off x="548640" y="1371600"/>
            <a:ext cx="10972800" cy="1097280"/>
          </a:xfrm>
          <a:prstGeom prst="rect">
            <a:avLst/>
          </a:prstGeom>
          <a:noFill/>
        </p:spPr>
        <p:txBody>
          <a:bodyPr wrap="square" anchor="t" lIns="0" rIns="0" tIns="0" bIns="0">
            <a:spAutoFit/>
          </a:bodyPr>
          <a:lstStyle/>
          <a:p>
            <a:pPr algn="l">
              <a:spcAft>
                <a:spcPts val="600"/>
              </a:spcAft>
            </a:pPr>
            <a:r>
              <a:rPr sz="4400" b="1" i="0">
                <a:solidFill>
                  <a:srgbClr val="FFFFFF"/>
                </a:solidFill>
                <a:latin typeface="Cambria"/>
              </a:rPr>
              <a:t>M31 · Auto-Label Correction Estimator</a:t>
            </a:r>
          </a:p>
        </p:txBody>
      </p:sp>
      <p:sp>
        <p:nvSpPr>
          <p:cNvPr id="9" name="TextBox 8"/>
          <p:cNvSpPr txBox="1"/>
          <p:nvPr/>
        </p:nvSpPr>
        <p:spPr>
          <a:xfrm>
            <a:off x="548640" y="2560320"/>
            <a:ext cx="9601200" cy="1097280"/>
          </a:xfrm>
          <a:prstGeom prst="rect">
            <a:avLst/>
          </a:prstGeom>
          <a:noFill/>
        </p:spPr>
        <p:txBody>
          <a:bodyPr wrap="square" anchor="t" lIns="0" rIns="0" tIns="0" bIns="0">
            <a:spAutoFit/>
          </a:bodyPr>
          <a:lstStyle/>
          <a:p>
            <a:pPr algn="l">
              <a:spcAft>
                <a:spcPts val="600"/>
              </a:spcAft>
            </a:pPr>
            <a:r>
              <a:rPr sz="2200" b="0" i="0">
                <a:solidFill>
                  <a:srgbClr val="D5DAE0"/>
                </a:solidFill>
                <a:latin typeface="Calibri"/>
              </a:rPr>
              <a:t>Ước lượng ảnh nào cần review trước và tốn bao lâu để sửa nhãn do YOLO / SAM gán tự động</a:t>
            </a:r>
          </a:p>
        </p:txBody>
      </p:sp>
      <p:sp>
        <p:nvSpPr>
          <p:cNvPr id="10" name="TextBox 9"/>
          <p:cNvSpPr txBox="1"/>
          <p:nvPr/>
        </p:nvSpPr>
        <p:spPr>
          <a:xfrm>
            <a:off x="548640" y="3931920"/>
            <a:ext cx="10058400" cy="457200"/>
          </a:xfrm>
          <a:prstGeom prst="rect">
            <a:avLst/>
          </a:prstGeom>
          <a:noFill/>
        </p:spPr>
        <p:txBody>
          <a:bodyPr wrap="square" anchor="t" lIns="0" rIns="0" tIns="0" bIns="0">
            <a:spAutoFit/>
          </a:bodyPr>
          <a:lstStyle/>
          <a:p>
            <a:pPr algn="l">
              <a:spcAft>
                <a:spcPts val="600"/>
              </a:spcAft>
            </a:pPr>
            <a:r>
              <a:rPr sz="1600" b="1" i="0">
                <a:solidFill>
                  <a:srgbClr val="F2B705"/>
                </a:solidFill>
                <a:latin typeface="Calibri"/>
              </a:rPr>
              <a:t>Pilot thật: </a:t>
            </a:r>
            <a:r>
              <a:rPr sz="1600" b="0" i="0">
                <a:solidFill>
                  <a:srgbClr val="FFFFFF"/>
                </a:solidFill>
                <a:latin typeface="Calibri"/>
              </a:rPr>
              <a:t>100 ảnh BDD100K · lớp car · YOLOv8n + SAM-B — không phải đánh giá trên toàn bộ BDD100K</a:t>
            </a:r>
          </a:p>
        </p:txBody>
      </p:sp>
      <p:sp>
        <p:nvSpPr>
          <p:cNvPr id="11" name="TeamHeading"/>
          <p:cNvSpPr txBox="1"/>
          <p:nvPr/>
        </p:nvSpPr>
        <p:spPr>
          <a:xfrm>
            <a:off x="548640" y="4600000"/>
            <a:ext cx="11064240" cy="280000"/>
          </a:xfrm>
          <a:prstGeom prst="rect">
            <a:avLst/>
          </a:prstGeom>
          <a:noFill/>
          <a:ln>
            <a:noFill/>
          </a:ln>
        </p:spPr>
        <p:txBody>
          <a:bodyPr wrap="square" lIns="0" rIns="0" tIns="0" bIns="0" anchor="t"/>
          <a:lstStyle/>
          <a:p>
            <a:pPr algn="l"/>
            <a:r>
              <a:rPr lang="vi-VN" sz="1350" b="1">
                <a:solidFill>
                  <a:srgbClr val="F2B705"/>
                </a:solidFill>
                <a:latin typeface="Calibri" panose="020F0502020204030204"/>
              </a:rPr>
              <a:t>NHÓM THỰC HIỆN · 4 THÀNH VIÊN</a:t>
            </a:r>
            <a:endParaRPr lang="vi-VN" sz="1350">
              <a:solidFill>
                <a:srgbClr val="F2B705"/>
              </a:solidFill>
              <a:latin typeface="Calibri"/>
            </a:endParaRPr>
          </a:p>
        </p:txBody>
      </p:sp>
      <p:sp>
        <p:nvSpPr>
          <p:cNvPr id="12" name="TeamMembersLeft"/>
          <p:cNvSpPr txBox="1"/>
          <p:nvPr/>
        </p:nvSpPr>
        <p:spPr>
          <a:xfrm>
            <a:off x="548640" y="4920000"/>
            <a:ext cx="5100000" cy="850000"/>
          </a:xfrm>
          <a:prstGeom prst="rect">
            <a:avLst/>
          </a:prstGeom>
          <a:noFill/>
          <a:ln>
            <a:noFill/>
          </a:ln>
        </p:spPr>
        <p:txBody>
          <a:bodyPr wrap="square" lIns="0" rIns="0" tIns="0" bIns="0" anchor="t"/>
          <a:lstStyle/>
          <a:p>
            <a:pPr algn="l"/>
            <a:r>
              <a:rPr lang="vi-VN" sz="1250" b="0">
                <a:solidFill>
                  <a:srgbClr val="D5DAE0"/>
                </a:solidFill>
                <a:latin typeface="Calibri" panose="020F0502020204030204"/>
              </a:rPr>
              <a:t>Nguyễn Công Thành · 2A202602219 (Trưởng nhóm)</a:t>
            </a:r>
            <a:endParaRPr lang="vi-VN" sz="1250">
              <a:solidFill>
                <a:srgbClr val="D5DAE0"/>
              </a:solidFill>
              <a:latin typeface="Calibri"/>
            </a:endParaRPr>
          </a:p>
          <a:p>
            <a:pPr algn="l"/>
            <a:r>
              <a:rPr lang="vi-VN" sz="1250" b="0">
                <a:solidFill>
                  <a:srgbClr val="D5DAE0"/>
                </a:solidFill>
                <a:latin typeface="Calibri" panose="020F0502020204030204"/>
              </a:rPr>
              <a:t>Lưu Quang Hùng · 2A202602142 (TV2)</a:t>
            </a:r>
            <a:endParaRPr lang="vi-VN" sz="1250">
              <a:solidFill>
                <a:srgbClr val="D5DAE0"/>
              </a:solidFill>
              <a:latin typeface="Calibri"/>
            </a:endParaRPr>
          </a:p>
        </p:txBody>
      </p:sp>
      <p:sp>
        <p:nvSpPr>
          <p:cNvPr id="13" name="TeamMembersRight"/>
          <p:cNvSpPr txBox="1"/>
          <p:nvPr/>
        </p:nvSpPr>
        <p:spPr>
          <a:xfrm>
            <a:off x="6100000" y="4920000"/>
            <a:ext cx="5100000" cy="850000"/>
          </a:xfrm>
          <a:prstGeom prst="rect">
            <a:avLst/>
          </a:prstGeom>
          <a:noFill/>
          <a:ln>
            <a:noFill/>
          </a:ln>
        </p:spPr>
        <p:txBody>
          <a:bodyPr wrap="square" lIns="0" rIns="0" tIns="0" bIns="0" anchor="t"/>
          <a:lstStyle/>
          <a:p>
            <a:pPr algn="l"/>
            <a:r>
              <a:rPr lang="vi-VN" sz="1250" b="0">
                <a:solidFill>
                  <a:srgbClr val="D5DAE0"/>
                </a:solidFill>
                <a:latin typeface="Calibri" panose="020F0502020204030204"/>
              </a:rPr>
              <a:t>Kim Nguyên Khôi · 2A202602116 (TV1)</a:t>
            </a:r>
            <a:endParaRPr lang="vi-VN" sz="1250">
              <a:solidFill>
                <a:srgbClr val="D5DAE0"/>
              </a:solidFill>
              <a:latin typeface="Calibri"/>
            </a:endParaRPr>
          </a:p>
          <a:p>
            <a:pPr algn="l"/>
            <a:r>
              <a:rPr lang="vi-VN" sz="1250" b="0">
                <a:solidFill>
                  <a:srgbClr val="D5DAE0"/>
                </a:solidFill>
                <a:latin typeface="Calibri" panose="020F0502020204030204"/>
              </a:rPr>
              <a:t>Nguyễn Văn Trọng · 2A202602276 (TV3)</a:t>
            </a:r>
            <a:endParaRPr lang="vi-VN" sz="1250">
              <a:solidFill>
                <a:srgbClr val="D5DAE0"/>
              </a:solidFill>
              <a:latin typeface="Calibri"/>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Pre-label nhanh, nhưng con người vẫn phải sửa</a:t>
            </a:r>
          </a:p>
        </p:txBody>
      </p:sp>
      <p:sp>
        <p:nvSpPr>
          <p:cNvPr id="3" name="Step1"/>
          <p:cNvSpPr/>
          <p:nvPr/>
        </p:nvSpPr>
        <p:spPr>
          <a:xfrm>
            <a:off x="54864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5" name="TextBox 4"/>
          <p:cNvSpPr txBox="1"/>
          <p:nvPr/>
        </p:nvSpPr>
        <p:spPr>
          <a:xfrm>
            <a:off x="82296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Pre-label</a:t>
            </a:r>
          </a:p>
        </p:txBody>
      </p:sp>
      <p:sp>
        <p:nvSpPr>
          <p:cNvPr id="6" name="TextBox 5"/>
          <p:cNvSpPr txBox="1"/>
          <p:nvPr/>
        </p:nvSpPr>
        <p:spPr>
          <a:xfrm>
            <a:off x="82296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YOLO vẽ box, SAM tạo mask cho từng ảnh</a:t>
            </a:r>
          </a:p>
        </p:txBody>
      </p:sp>
      <p:sp>
        <p:nvSpPr>
          <p:cNvPr id="7" name="Step2"/>
          <p:cNvSpPr/>
          <p:nvPr/>
        </p:nvSpPr>
        <p:spPr>
          <a:xfrm>
            <a:off x="338328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5760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9" name="TextBox 8"/>
          <p:cNvSpPr txBox="1"/>
          <p:nvPr/>
        </p:nvSpPr>
        <p:spPr>
          <a:xfrm>
            <a:off x="365760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M31 ước lượng</a:t>
            </a:r>
          </a:p>
        </p:txBody>
      </p:sp>
      <p:sp>
        <p:nvSpPr>
          <p:cNvPr id="10" name="TextBox 9"/>
          <p:cNvSpPr txBox="1"/>
          <p:nvPr/>
        </p:nvSpPr>
        <p:spPr>
          <a:xfrm>
            <a:off x="365760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Điểm chất lượng, thời gian sửa, mức ưu tiên, lý do</a:t>
            </a:r>
          </a:p>
        </p:txBody>
      </p:sp>
      <p:sp>
        <p:nvSpPr>
          <p:cNvPr id="11" name="Step3"/>
          <p:cNvSpPr/>
          <p:nvPr/>
        </p:nvSpPr>
        <p:spPr>
          <a:xfrm>
            <a:off x="621792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3" name="TextBox 12"/>
          <p:cNvSpPr txBox="1"/>
          <p:nvPr/>
        </p:nvSpPr>
        <p:spPr>
          <a:xfrm>
            <a:off x="649224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Người review &amp; sửa</a:t>
            </a:r>
          </a:p>
        </p:txBody>
      </p:sp>
      <p:sp>
        <p:nvSpPr>
          <p:cNvPr id="14" name="TextBox 13"/>
          <p:cNvSpPr txBox="1"/>
          <p:nvPr/>
        </p:nvSpPr>
        <p:spPr>
          <a:xfrm>
            <a:off x="649224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Thêm / xoá / chỉnh box và mask</a:t>
            </a:r>
          </a:p>
        </p:txBody>
      </p:sp>
      <p:sp>
        <p:nvSpPr>
          <p:cNvPr id="15" name="Step4"/>
          <p:cNvSpPr/>
          <p:nvPr/>
        </p:nvSpPr>
        <p:spPr>
          <a:xfrm>
            <a:off x="9052560" y="1645920"/>
            <a:ext cx="2606040" cy="21945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326880" y="1874519"/>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4</a:t>
            </a:r>
          </a:p>
        </p:txBody>
      </p:sp>
      <p:sp>
        <p:nvSpPr>
          <p:cNvPr id="17" name="TextBox 16"/>
          <p:cNvSpPr txBox="1"/>
          <p:nvPr/>
        </p:nvSpPr>
        <p:spPr>
          <a:xfrm>
            <a:off x="9326880" y="2560320"/>
            <a:ext cx="2148840" cy="457200"/>
          </a:xfrm>
          <a:prstGeom prst="rect">
            <a:avLst/>
          </a:prstGeom>
          <a:noFill/>
        </p:spPr>
        <p:txBody>
          <a:bodyPr wrap="square" anchor="t" lIns="0" rIns="0" tIns="0" bIns="0">
            <a:spAutoFit/>
          </a:bodyPr>
          <a:lstStyle/>
          <a:p>
            <a:pPr algn="l">
              <a:spcAft>
                <a:spcPts val="600"/>
              </a:spcAft>
            </a:pPr>
            <a:r>
              <a:rPr sz="2000" b="1" i="0">
                <a:solidFill>
                  <a:srgbClr val="22272E"/>
                </a:solidFill>
                <a:latin typeface="Calibri"/>
              </a:rPr>
              <a:t>Đối chiếu</a:t>
            </a:r>
          </a:p>
        </p:txBody>
      </p:sp>
      <p:sp>
        <p:nvSpPr>
          <p:cNvPr id="18" name="TextBox 17"/>
          <p:cNvSpPr txBox="1"/>
          <p:nvPr/>
        </p:nvSpPr>
        <p:spPr>
          <a:xfrm>
            <a:off x="9326880" y="3017520"/>
            <a:ext cx="2148840" cy="82296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So ước lượng với thời gian sửa thật</a:t>
            </a:r>
          </a:p>
        </p:txBody>
      </p:sp>
      <p:sp>
        <p:nvSpPr>
          <p:cNvPr id="19" name="Constraint"/>
          <p:cNvSpPr/>
          <p:nvPr/>
        </p:nvSpPr>
        <p:spPr>
          <a:xfrm>
            <a:off x="548640" y="4343400"/>
            <a:ext cx="11064240" cy="160020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526280"/>
            <a:ext cx="10424160" cy="1280160"/>
          </a:xfrm>
          <a:prstGeom prst="rect">
            <a:avLst/>
          </a:prstGeom>
          <a:noFill/>
        </p:spPr>
        <p:txBody>
          <a:bodyPr wrap="square" anchor="ctr" lIns="0" rIns="0" tIns="0" bIns="0">
            <a:spAutoFit/>
          </a:bodyPr>
          <a:lstStyle/>
          <a:p>
            <a:pPr algn="l">
              <a:spcAft>
                <a:spcPts val="600"/>
              </a:spcAft>
            </a:pPr>
            <a:r>
              <a:rPr sz="1700" b="1" i="0">
                <a:solidFill>
                  <a:srgbClr val="F2B705"/>
                </a:solidFill>
                <a:latin typeface="Calibri"/>
              </a:rPr>
              <a:t>Ràng buộc chống rò rỉ: </a:t>
            </a:r>
            <a:r>
              <a:rPr sz="1700" b="0" i="0">
                <a:solidFill>
                  <a:srgbClr val="FFFFFF"/>
                </a:solidFill>
                <a:latin typeface="Calibri"/>
              </a:rPr>
              <a:t>chỉ dùng thông tin có TRƯỚC khi người sửa bắt đầu (confidence, box, mask).</a:t>
            </a:r>
          </a:p>
          <a:p>
            <a:pPr algn="l">
              <a:spcAft>
                <a:spcPts val="600"/>
              </a:spcAft>
            </a:pPr>
            <a:r>
              <a:rPr sz="1700" b="0" i="0">
                <a:solidFill>
                  <a:srgbClr val="D5DAE0"/>
                </a:solidFill>
                <a:latin typeface="Calibri"/>
              </a:rPr>
              <a:t>Thời gian sửa, thao tác sửa, status, notes và ground truth chỉ dùng để đánh giá.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Pipeline tách riêng đặc trưng và nhãn đánh giá</a:t>
            </a:r>
          </a:p>
        </p:txBody>
      </p:sp>
      <p:sp>
        <p:nvSpPr>
          <p:cNvPr id="3" name="ZIP pilot (local)"/>
          <p:cNvSpPr/>
          <p:nvPr/>
        </p:nvSpPr>
        <p:spPr>
          <a:xfrm>
            <a:off x="548640" y="18288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574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ZIP pilot (local)</a:t>
            </a:r>
          </a:p>
        </p:txBody>
      </p:sp>
      <p:sp>
        <p:nvSpPr>
          <p:cNvPr id="5" name="TextBox 4"/>
          <p:cNvSpPr txBox="1"/>
          <p:nvPr/>
        </p:nvSpPr>
        <p:spPr>
          <a:xfrm>
            <a:off x="777240" y="25603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Dự đoán, mask, overlay, log — không commit</a:t>
            </a:r>
          </a:p>
        </p:txBody>
      </p:sp>
      <p:sp>
        <p:nvSpPr>
          <p:cNvPr id="6" name="CSV đặc trưng"/>
          <p:cNvSpPr/>
          <p:nvPr/>
        </p:nvSpPr>
        <p:spPr>
          <a:xfrm>
            <a:off x="3657600" y="128016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150876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CSV đặc trưng</a:t>
            </a:r>
          </a:p>
        </p:txBody>
      </p:sp>
      <p:sp>
        <p:nvSpPr>
          <p:cNvPr id="8" name="TextBox 7"/>
          <p:cNvSpPr txBox="1"/>
          <p:nvPr/>
        </p:nvSpPr>
        <p:spPr>
          <a:xfrm>
            <a:off x="3886200" y="201168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29 đặc trưng box/mask, chỉ trước khi sửa</a:t>
            </a:r>
          </a:p>
        </p:txBody>
      </p:sp>
      <p:sp>
        <p:nvSpPr>
          <p:cNvPr id="9" name="CSV correction log"/>
          <p:cNvSpPr/>
          <p:nvPr/>
        </p:nvSpPr>
        <p:spPr>
          <a:xfrm>
            <a:off x="3657600" y="34290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0" y="36576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CSV correction log</a:t>
            </a:r>
          </a:p>
        </p:txBody>
      </p:sp>
      <p:sp>
        <p:nvSpPr>
          <p:cNvPr id="11" name="TextBox 10"/>
          <p:cNvSpPr txBox="1"/>
          <p:nvPr/>
        </p:nvSpPr>
        <p:spPr>
          <a:xfrm>
            <a:off x="3886200" y="41605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Tách riêng, chỉ để đối chiếu</a:t>
            </a:r>
          </a:p>
        </p:txBody>
      </p:sp>
      <p:sp>
        <p:nvSpPr>
          <p:cNvPr id="12" name="M31 (Python)"/>
          <p:cNvSpPr/>
          <p:nvPr/>
        </p:nvSpPr>
        <p:spPr>
          <a:xfrm>
            <a:off x="6766560" y="1828800"/>
            <a:ext cx="2377440" cy="17373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2057400"/>
            <a:ext cx="1920240" cy="457200"/>
          </a:xfrm>
          <a:prstGeom prst="rect">
            <a:avLst/>
          </a:prstGeom>
          <a:noFill/>
        </p:spPr>
        <p:txBody>
          <a:bodyPr wrap="square" anchor="t" lIns="0" rIns="0" tIns="0" bIns="0">
            <a:spAutoFit/>
          </a:bodyPr>
          <a:lstStyle/>
          <a:p>
            <a:pPr algn="l">
              <a:spcAft>
                <a:spcPts val="600"/>
              </a:spcAft>
            </a:pPr>
            <a:r>
              <a:rPr sz="1700" b="1" i="0">
                <a:solidFill>
                  <a:srgbClr val="22272E"/>
                </a:solidFill>
                <a:latin typeface="Calibri"/>
              </a:rPr>
              <a:t>M31 (Python)</a:t>
            </a:r>
          </a:p>
        </p:txBody>
      </p:sp>
      <p:sp>
        <p:nvSpPr>
          <p:cNvPr id="14" name="TextBox 13"/>
          <p:cNvSpPr txBox="1"/>
          <p:nvPr/>
        </p:nvSpPr>
        <p:spPr>
          <a:xfrm>
            <a:off x="6995160" y="2560320"/>
            <a:ext cx="1920240" cy="91440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Kiểm tra schema, loại cột GT / sau-sửa, ước lượng, CV</a:t>
            </a:r>
          </a:p>
        </p:txBody>
      </p:sp>
      <p:sp>
        <p:nvSpPr>
          <p:cNvPr id="15" name="App Streamlit"/>
          <p:cNvSpPr/>
          <p:nvPr/>
        </p:nvSpPr>
        <p:spPr>
          <a:xfrm>
            <a:off x="9509760" y="1828800"/>
            <a:ext cx="2103120" cy="173736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38360" y="2057400"/>
            <a:ext cx="1691640" cy="457200"/>
          </a:xfrm>
          <a:prstGeom prst="rect">
            <a:avLst/>
          </a:prstGeom>
          <a:noFill/>
        </p:spPr>
        <p:txBody>
          <a:bodyPr wrap="square" anchor="t" lIns="0" rIns="0" tIns="0" bIns="0">
            <a:spAutoFit/>
          </a:bodyPr>
          <a:lstStyle/>
          <a:p>
            <a:pPr algn="l">
              <a:spcAft>
                <a:spcPts val="600"/>
              </a:spcAft>
            </a:pPr>
            <a:r>
              <a:rPr sz="1700" b="1" i="0">
                <a:solidFill>
                  <a:srgbClr val="FFFFFF"/>
                </a:solidFill>
                <a:latin typeface="Calibri"/>
              </a:rPr>
              <a:t>App Streamlit</a:t>
            </a:r>
          </a:p>
        </p:txBody>
      </p:sp>
      <p:sp>
        <p:nvSpPr>
          <p:cNvPr id="17" name="TextBox 16"/>
          <p:cNvSpPr txBox="1"/>
          <p:nvPr/>
        </p:nvSpPr>
        <p:spPr>
          <a:xfrm>
            <a:off x="9738360" y="2560320"/>
            <a:ext cx="1691640" cy="914400"/>
          </a:xfrm>
          <a:prstGeom prst="rect">
            <a:avLst/>
          </a:prstGeom>
          <a:noFill/>
        </p:spPr>
        <p:txBody>
          <a:bodyPr wrap="square" anchor="t" lIns="0" rIns="0" tIns="0" bIns="0">
            <a:spAutoFit/>
          </a:bodyPr>
          <a:lstStyle/>
          <a:p>
            <a:pPr algn="l">
              <a:spcAft>
                <a:spcPts val="600"/>
              </a:spcAft>
            </a:pPr>
            <a:r>
              <a:rPr sz="1300" b="0" i="0">
                <a:solidFill>
                  <a:srgbClr val="D5DAE0"/>
                </a:solidFill>
                <a:latin typeface="Calibri"/>
              </a:rPr>
              <a:t>5 tab: dữ liệu, ưu tiên, chi tiết, so sánh, giới hạn</a:t>
            </a:r>
          </a:p>
        </p:txBody>
      </p:sp>
      <p:cxnSp>
        <p:nvCxnSpPr>
          <p:cNvPr id="18" name="Connector 17"/>
          <p:cNvCxnSpPr/>
          <p:nvPr/>
        </p:nvCxnSpPr>
        <p:spPr>
          <a:xfrm flipV="1">
            <a:off x="2926080" y="2148840"/>
            <a:ext cx="731520" cy="22860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926080" y="3017520"/>
            <a:ext cx="731520" cy="128016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35040" y="2148840"/>
            <a:ext cx="731520" cy="54864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6035040" y="3017520"/>
            <a:ext cx="731520" cy="128016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44000" y="2697480"/>
            <a:ext cx="365760" cy="0"/>
          </a:xfrm>
          <a:prstGeom prst="line">
            <a:avLst/>
          </a:prstGeom>
          <a:ln w="25400">
            <a:solidFill>
              <a:srgbClr val="6B7580"/>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8640" y="5577840"/>
            <a:ext cx="11064240" cy="82296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Kiểm thử: </a:t>
            </a:r>
            <a:r>
              <a:rPr sz="1500" b="0" i="0">
                <a:solidFill>
                  <a:srgbClr val="4A5560"/>
                </a:solidFill>
                <a:latin typeface="Calibri"/>
              </a:rPr>
              <a:t>20 unit test, gồm test chạy script đặc trưng trên ZIP không có log/GT và test "ghép log vào không làm đổi dự đoán".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Pilot nhỏ: chỉ 13/100 ảnh mỗi task cần sửa</a:t>
            </a:r>
          </a:p>
        </p:txBody>
      </p:sp>
      <p:sp>
        <p:nvSpPr>
          <p:cNvPr id="3" name="Rounded Rectangle 2"/>
          <p:cNvSpPr/>
          <p:nvPr/>
        </p:nvSpPr>
        <p:spPr>
          <a:xfrm>
            <a:off x="548640"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100</a:t>
            </a:r>
          </a:p>
        </p:txBody>
      </p:sp>
      <p:sp>
        <p:nvSpPr>
          <p:cNvPr id="5" name="TextBox 4"/>
          <p:cNvSpPr txBox="1"/>
          <p:nvPr/>
        </p:nvSpPr>
        <p:spPr>
          <a:xfrm>
            <a:off x="822960"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ảnh BDD100K, lớp car</a:t>
            </a:r>
          </a:p>
        </p:txBody>
      </p:sp>
      <p:sp>
        <p:nvSpPr>
          <p:cNvPr id="6" name="Rounded Rectangle 5"/>
          <p:cNvSpPr/>
          <p:nvPr/>
        </p:nvSpPr>
        <p:spPr>
          <a:xfrm>
            <a:off x="4297679"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555</a:t>
            </a:r>
          </a:p>
        </p:txBody>
      </p:sp>
      <p:sp>
        <p:nvSpPr>
          <p:cNvPr id="8" name="TextBox 7"/>
          <p:cNvSpPr txBox="1"/>
          <p:nvPr/>
        </p:nvSpPr>
        <p:spPr>
          <a:xfrm>
            <a:off x="4571999"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box YOLO = 555 mask SAM</a:t>
            </a:r>
          </a:p>
        </p:txBody>
      </p:sp>
      <p:sp>
        <p:nvSpPr>
          <p:cNvPr id="9" name="Rounded Rectangle 8"/>
          <p:cNvSpPr/>
          <p:nvPr/>
        </p:nvSpPr>
        <p:spPr>
          <a:xfrm>
            <a:off x="8046719" y="15544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39" y="17830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13/100</a:t>
            </a:r>
          </a:p>
        </p:txBody>
      </p:sp>
      <p:sp>
        <p:nvSpPr>
          <p:cNvPr id="11" name="TextBox 10"/>
          <p:cNvSpPr txBox="1"/>
          <p:nvPr/>
        </p:nvSpPr>
        <p:spPr>
          <a:xfrm>
            <a:off x="8321039" y="26974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ảnh cần sửa mỗi task (cùng 13 ảnh)</a:t>
            </a:r>
          </a:p>
        </p:txBody>
      </p:sp>
      <p:sp>
        <p:nvSpPr>
          <p:cNvPr id="12" name="Rounded Rectangle 11"/>
          <p:cNvSpPr/>
          <p:nvPr/>
        </p:nvSpPr>
        <p:spPr>
          <a:xfrm>
            <a:off x="548640" y="36118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404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1,17 s</a:t>
            </a:r>
          </a:p>
        </p:txBody>
      </p:sp>
      <p:sp>
        <p:nvSpPr>
          <p:cNvPr id="14" name="TextBox 13"/>
          <p:cNvSpPr txBox="1"/>
          <p:nvPr/>
        </p:nvSpPr>
        <p:spPr>
          <a:xfrm>
            <a:off x="822960" y="47548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thời gian sửa TB / ảnh — YOLO</a:t>
            </a:r>
          </a:p>
        </p:txBody>
      </p:sp>
      <p:sp>
        <p:nvSpPr>
          <p:cNvPr id="15" name="Rounded Rectangle 14"/>
          <p:cNvSpPr/>
          <p:nvPr/>
        </p:nvSpPr>
        <p:spPr>
          <a:xfrm>
            <a:off x="4297679" y="3611880"/>
            <a:ext cx="3474720" cy="18288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1999" y="3840480"/>
            <a:ext cx="3017520" cy="82296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1,69 s</a:t>
            </a:r>
          </a:p>
        </p:txBody>
      </p:sp>
      <p:sp>
        <p:nvSpPr>
          <p:cNvPr id="17" name="TextBox 16"/>
          <p:cNvSpPr txBox="1"/>
          <p:nvPr/>
        </p:nvSpPr>
        <p:spPr>
          <a:xfrm>
            <a:off x="4571999" y="4754880"/>
            <a:ext cx="3017520" cy="54864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thời gian sửa TB / ảnh — SAM</a:t>
            </a:r>
          </a:p>
        </p:txBody>
      </p:sp>
      <p:sp>
        <p:nvSpPr>
          <p:cNvPr id="18" name="Rounded Rectangle 17"/>
          <p:cNvSpPr/>
          <p:nvPr/>
        </p:nvSpPr>
        <p:spPr>
          <a:xfrm>
            <a:off x="8046719" y="3611880"/>
            <a:ext cx="3474720" cy="182880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9" y="3886200"/>
            <a:ext cx="3017520" cy="1371600"/>
          </a:xfrm>
          <a:prstGeom prst="rect">
            <a:avLst/>
          </a:prstGeom>
          <a:noFill/>
        </p:spPr>
        <p:txBody>
          <a:bodyPr wrap="square" anchor="t" lIns="0" rIns="0" tIns="0" bIns="0">
            <a:spAutoFit/>
          </a:bodyPr>
          <a:lstStyle/>
          <a:p>
            <a:pPr algn="l">
              <a:spcAft>
                <a:spcPts val="600"/>
              </a:spcAft>
            </a:pPr>
            <a:r>
              <a:rPr sz="1400" b="1" i="0">
                <a:solidFill>
                  <a:srgbClr val="F2B705"/>
                </a:solidFill>
                <a:latin typeface="Calibri"/>
              </a:rPr>
              <a:t>Lưu ý</a:t>
            </a:r>
          </a:p>
          <a:p>
            <a:pPr algn="l">
              <a:spcAft>
                <a:spcPts val="600"/>
              </a:spcAft>
            </a:pPr>
            <a:r>
              <a:rPr sz="1400" b="0" i="0">
                <a:solidFill>
                  <a:srgbClr val="FFFFFF"/>
                </a:solidFill>
                <a:latin typeface="Calibri"/>
              </a:rPr>
              <a:t>Confidence của SAM là confidence box YOLO dùng làm prompt. Không có thao tác "thêm" nào trong log.</a:t>
            </a:r>
          </a:p>
        </p:txBody>
      </p:sp>
      <p:sp>
        <p:nvSpPr>
          <p:cNvPr id="20" name="TextBox 19"/>
          <p:cNvSpPr txBox="1"/>
          <p:nvPr/>
        </p:nvSpPr>
        <p:spPr>
          <a:xfrm>
            <a:off x="548640" y="5760720"/>
            <a:ext cx="11064240" cy="548640"/>
          </a:xfrm>
          <a:prstGeom prst="rect">
            <a:avLst/>
          </a:prstGeom>
          <a:noFill/>
        </p:spPr>
        <p:txBody>
          <a:bodyPr wrap="square" anchor="t" lIns="0" rIns="0" tIns="0" bIns="0">
            <a:spAutoFit/>
          </a:bodyPr>
          <a:lstStyle/>
          <a:p>
            <a:pPr algn="l">
              <a:spcAft>
                <a:spcPts val="600"/>
              </a:spcAft>
            </a:pPr>
            <a:r>
              <a:rPr sz="1200" b="0" i="0">
                <a:solidFill>
                  <a:srgbClr val="6B7580"/>
                </a:solidFill>
                <a:latin typeface="Calibri"/>
              </a:rPr>
              <a:t>Nguồn: end_corrected.zip do nhóm bàn giao; thời gian sửa do nhóm ghi nhận, không kiểm chứng độc lập.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Chưa mô hình nào thắng "luôn đoán 0 giây"</a:t>
            </a:r>
          </a:p>
        </p:txBody>
      </p:sp>
      <p:graphicFrame>
        <p:nvGraphicFramePr>
          <p:cNvPr id="3" name="Chart 2"/>
          <p:cNvGraphicFramePr>
            <a:graphicFrameLocks noGrp="1"/>
          </p:cNvGraphicFramePr>
          <p:nvPr/>
        </p:nvGraphicFramePr>
        <p:xfrm>
          <a:off x="548640" y="1371600"/>
          <a:ext cx="7223760" cy="4572000"/>
        </p:xfrm>
        <a:graphic>
          <a:graphicData uri="http://schemas.openxmlformats.org/drawingml/2006/chart">
            <c:chart xmlns:c="http://schemas.openxmlformats.org/drawingml/2006/chart" r:id="rId2"/>
          </a:graphicData>
        </a:graphic>
      </p:graphicFrame>
      <p:sp>
        <p:nvSpPr>
          <p:cNvPr id="4" name="Rounded Rectangle 3"/>
          <p:cNvSpPr/>
          <p:nvPr/>
        </p:nvSpPr>
        <p:spPr>
          <a:xfrm>
            <a:off x="8138160" y="1371600"/>
            <a:ext cx="3474720" cy="45720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1600200"/>
            <a:ext cx="2926080" cy="4206240"/>
          </a:xfrm>
          <a:prstGeom prst="rect">
            <a:avLst/>
          </a:prstGeom>
          <a:noFill/>
        </p:spPr>
        <p:txBody>
          <a:bodyPr wrap="square" anchor="t" lIns="0" rIns="0" tIns="0" bIns="0">
            <a:spAutoFit/>
          </a:bodyPr>
          <a:lstStyle/>
          <a:p>
            <a:pPr algn="l">
              <a:spcAft>
                <a:spcPts val="600"/>
              </a:spcAft>
            </a:pPr>
            <a:r>
              <a:rPr sz="4400" b="1" i="0">
                <a:solidFill>
                  <a:srgbClr val="22272E"/>
                </a:solidFill>
                <a:latin typeface="Cambria"/>
              </a:rPr>
              <a:t>0%</a:t>
            </a:r>
          </a:p>
          <a:p>
            <a:pPr algn="l">
              <a:spcAft>
                <a:spcPts val="600"/>
              </a:spcAft>
            </a:pPr>
            <a:r>
              <a:rPr sz="1500" b="0" i="0">
                <a:solidFill>
                  <a:srgbClr val="4A5560"/>
                </a:solidFill>
                <a:latin typeface="Calibri"/>
              </a:rPr>
              <a:t>số lần lặp CV mà một mô hình bất kỳ có MAE thấp hơn "đoán 0"</a:t>
            </a:r>
          </a:p>
          <a:p>
            <a:pPr algn="l">
              <a:spcAft>
                <a:spcPts val="600"/>
              </a:spcAft>
            </a:pPr>
            <a:r>
              <a:rPr sz="800" b="0" i="0">
                <a:solidFill>
                  <a:srgbClr val="22272E"/>
                </a:solidFill>
                <a:latin typeface="Calibri"/>
              </a:rPr>
              <a:t> </a:t>
            </a:r>
          </a:p>
          <a:p>
            <a:pPr algn="l">
              <a:spcAft>
                <a:spcPts val="600"/>
              </a:spcAft>
            </a:pPr>
            <a:r>
              <a:rPr sz="1500" b="1" i="0">
                <a:solidFill>
                  <a:srgbClr val="22272E"/>
                </a:solidFill>
                <a:latin typeface="Calibri"/>
              </a:rPr>
              <a:t>Baseline M31 hiện tại: </a:t>
            </a:r>
            <a:r>
              <a:rPr sz="1500" b="0" i="0">
                <a:solidFill>
                  <a:srgbClr val="4A5560"/>
                </a:solidFill>
                <a:latin typeface="Calibri"/>
              </a:rPr>
              <a:t>36,5 s / 71,4 s — ước lượng cao gấp 30–40 lần thực tế.</a:t>
            </a:r>
          </a:p>
          <a:p>
            <a:pPr algn="l">
              <a:spcAft>
                <a:spcPts val="600"/>
              </a:spcAft>
            </a:pPr>
            <a:r>
              <a:rPr sz="1500" b="0" i="0">
                <a:solidFill>
                  <a:srgbClr val="4A5560"/>
                </a:solidFill>
                <a:latin typeface="Calibri"/>
              </a:rPr>
              <a:t>Ridge nhóm A dùng 20 (detection) / 25 (segmentation) đặc trưng; hai bước = xác suất logistic × thời gian sửa TB.</a:t>
            </a:r>
          </a:p>
          <a:p>
            <a:pPr algn="l">
              <a:spcAft>
                <a:spcPts val="600"/>
              </a:spcAft>
            </a:pPr>
            <a:r>
              <a:rPr sz="1500" b="0" i="0">
                <a:solidFill>
                  <a:srgbClr val="4A5560"/>
                </a:solidFill>
                <a:latin typeface="Calibri"/>
              </a:rPr>
              <a:t>MAE của chính "đoán 0" dao động 0,74–3,93 s giữa các fold (2–3 ảnh sửa mỗi fold).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Xếp hạng ảnh cần sửa chưa khác ngẫu nhiên</a:t>
            </a:r>
          </a:p>
        </p:txBody>
      </p:sp>
      <p:sp>
        <p:nvSpPr>
          <p:cNvPr id="3" name="Rounded Rectangle 2"/>
          <p:cNvSpPr/>
          <p:nvPr/>
        </p:nvSpPr>
        <p:spPr>
          <a:xfrm>
            <a:off x="548640"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0,56</a:t>
            </a:r>
          </a:p>
        </p:txBody>
      </p:sp>
      <p:sp>
        <p:nvSpPr>
          <p:cNvPr id="5" name="TextBox 4"/>
          <p:cNvSpPr txBox="1"/>
          <p:nvPr/>
        </p:nvSpPr>
        <p:spPr>
          <a:xfrm>
            <a:off x="822960"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logistic — detection</a:t>
            </a:r>
          </a:p>
        </p:txBody>
      </p:sp>
      <p:sp>
        <p:nvSpPr>
          <p:cNvPr id="6" name="TextBox 5"/>
          <p:cNvSpPr txBox="1"/>
          <p:nvPr/>
        </p:nvSpPr>
        <p:spPr>
          <a:xfrm>
            <a:off x="822960"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p hoán vị = 0,41</a:t>
            </a:r>
          </a:p>
        </p:txBody>
      </p:sp>
      <p:sp>
        <p:nvSpPr>
          <p:cNvPr id="7" name="Rounded Rectangle 6"/>
          <p:cNvSpPr/>
          <p:nvPr/>
        </p:nvSpPr>
        <p:spPr>
          <a:xfrm>
            <a:off x="4297679"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0,56</a:t>
            </a:r>
          </a:p>
        </p:txBody>
      </p:sp>
      <p:sp>
        <p:nvSpPr>
          <p:cNvPr id="9" name="TextBox 8"/>
          <p:cNvSpPr txBox="1"/>
          <p:nvPr/>
        </p:nvSpPr>
        <p:spPr>
          <a:xfrm>
            <a:off x="4571999"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logistic — segmentation</a:t>
            </a:r>
          </a:p>
        </p:txBody>
      </p:sp>
      <p:sp>
        <p:nvSpPr>
          <p:cNvPr id="10" name="TextBox 9"/>
          <p:cNvSpPr txBox="1"/>
          <p:nvPr/>
        </p:nvSpPr>
        <p:spPr>
          <a:xfrm>
            <a:off x="4571999"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p hoán vị = 0,32</a:t>
            </a:r>
          </a:p>
        </p:txBody>
      </p:sp>
      <p:sp>
        <p:nvSpPr>
          <p:cNvPr id="11" name="Rounded Rectangle 10"/>
          <p:cNvSpPr/>
          <p:nvPr/>
        </p:nvSpPr>
        <p:spPr>
          <a:xfrm>
            <a:off x="8046719" y="1645920"/>
            <a:ext cx="3474720" cy="24688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9" y="1920240"/>
            <a:ext cx="3017520" cy="914400"/>
          </a:xfrm>
          <a:prstGeom prst="rect">
            <a:avLst/>
          </a:prstGeom>
          <a:noFill/>
        </p:spPr>
        <p:txBody>
          <a:bodyPr wrap="square" anchor="t" lIns="0" rIns="0" tIns="0" bIns="0">
            <a:spAutoFit/>
          </a:bodyPr>
          <a:lstStyle/>
          <a:p>
            <a:pPr algn="l">
              <a:spcAft>
                <a:spcPts val="600"/>
              </a:spcAft>
            </a:pPr>
            <a:r>
              <a:rPr sz="5400" b="1" i="0">
                <a:solidFill>
                  <a:srgbClr val="22272E"/>
                </a:solidFill>
                <a:latin typeface="Cambria"/>
              </a:rPr>
              <a:t>0,52</a:t>
            </a:r>
          </a:p>
        </p:txBody>
      </p:sp>
      <p:sp>
        <p:nvSpPr>
          <p:cNvPr id="13" name="TextBox 12"/>
          <p:cNvSpPr txBox="1"/>
          <p:nvPr/>
        </p:nvSpPr>
        <p:spPr>
          <a:xfrm>
            <a:off x="8321039" y="3017520"/>
            <a:ext cx="3017520" cy="411480"/>
          </a:xfrm>
          <a:prstGeom prst="rect">
            <a:avLst/>
          </a:prstGeom>
          <a:noFill/>
        </p:spPr>
        <p:txBody>
          <a:bodyPr wrap="square" anchor="t" lIns="0" rIns="0" tIns="0" bIns="0">
            <a:spAutoFit/>
          </a:bodyPr>
          <a:lstStyle/>
          <a:p>
            <a:pPr algn="l">
              <a:spcAft>
                <a:spcPts val="600"/>
              </a:spcAft>
            </a:pPr>
            <a:r>
              <a:rPr sz="1500" b="1" i="0">
                <a:solidFill>
                  <a:srgbClr val="22272E"/>
                </a:solidFill>
                <a:latin typeface="Calibri"/>
              </a:rPr>
              <a:t>AUC điểm chất lượng M31</a:t>
            </a:r>
          </a:p>
        </p:txBody>
      </p:sp>
      <p:sp>
        <p:nvSpPr>
          <p:cNvPr id="14" name="TextBox 13"/>
          <p:cNvSpPr txBox="1"/>
          <p:nvPr/>
        </p:nvSpPr>
        <p:spPr>
          <a:xfrm>
            <a:off x="8321039" y="3474720"/>
            <a:ext cx="3017520" cy="4114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công thức cố định, không học</a:t>
            </a:r>
          </a:p>
        </p:txBody>
      </p:sp>
      <p:sp>
        <p:nvSpPr>
          <p:cNvPr id="15" name="Rounded Rectangle 14"/>
          <p:cNvSpPr/>
          <p:nvPr/>
        </p:nvSpPr>
        <p:spPr>
          <a:xfrm>
            <a:off x="548640" y="4526280"/>
            <a:ext cx="11064240" cy="160020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4800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a:t>
            </a:r>
          </a:p>
        </p:txBody>
      </p:sp>
      <p:sp>
        <p:nvSpPr>
          <p:cNvPr id="17" name="TextBox 16"/>
          <p:cNvSpPr txBox="1"/>
          <p:nvPr/>
        </p:nvSpPr>
        <p:spPr>
          <a:xfrm>
            <a:off x="1554480" y="4754880"/>
            <a:ext cx="9784080" cy="1280160"/>
          </a:xfrm>
          <a:prstGeom prst="rect">
            <a:avLst/>
          </a:prstGeom>
          <a:noFill/>
        </p:spPr>
        <p:txBody>
          <a:bodyPr wrap="square" anchor="t" lIns="0" rIns="0" tIns="0" bIns="0">
            <a:spAutoFit/>
          </a:bodyPr>
          <a:lstStyle/>
          <a:p>
            <a:pPr algn="l">
              <a:spcAft>
                <a:spcPts val="600"/>
              </a:spcAft>
            </a:pPr>
            <a:r>
              <a:rPr sz="1600" b="1" i="0">
                <a:solidFill>
                  <a:srgbClr val="22272E"/>
                </a:solidFill>
                <a:latin typeface="Calibri"/>
              </a:rPr>
              <a:t>Gợi ý cần kiểm tra trên dữ liệu mới (khám phá, chưa phải kết quả): </a:t>
            </a:r>
            <a:r>
              <a:rPr sz="1600" b="0" i="0">
                <a:solidFill>
                  <a:srgbClr val="4A5560"/>
                </a:solidFill>
                <a:latin typeface="Calibri"/>
              </a:rPr>
              <a:t>box chồng nhau nhiều (AUC 0,70) và mask lấp box ít (≈ 0,67). Đã thử 21–28 đặc trưng trên cùng 13 ca, nên 1–2 tín hiệu có thể chỉ do ngẫu nhiên.</a:t>
            </a:r>
          </a:p>
          <a:p>
            <a:pPr algn="l">
              <a:spcAft>
                <a:spcPts val="600"/>
              </a:spcAft>
            </a:pPr>
            <a:r>
              <a:rPr sz="1300" b="0" i="0">
                <a:solidFill>
                  <a:srgbClr val="6B7580"/>
                </a:solidFill>
                <a:latin typeface="Calibri"/>
              </a:rPr>
              <a:t>AUC 0,5 = ngẫu nhiên; tiêu chí tích hợp đặt trước: AUC ≥ 0,70 và p &lt; 0,05.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So sánh model trên pilot: giữ mặc định</a:t>
            </a:r>
          </a:p>
        </p:txBody>
      </p:sp>
      <p:sp>
        <p:nvSpPr>
          <p:cNvPr id="3" name="TextBox 2"/>
          <p:cNvSpPr txBox="1"/>
          <p:nvPr/>
        </p:nvSpPr>
        <p:spPr>
          <a:xfrm>
            <a:off x="548640" y="1188720"/>
            <a:ext cx="11064240" cy="457200"/>
          </a:xfrm>
          <a:prstGeom prst="rect">
            <a:avLst/>
          </a:prstGeom>
          <a:noFill/>
        </p:spPr>
        <p:txBody>
          <a:bodyPr wrap="square" anchor="t" lIns="0" rIns="0" tIns="0" bIns="0">
            <a:spAutoFit/>
          </a:bodyPr>
          <a:lstStyle/>
          <a:p>
            <a:pPr algn="l">
              <a:spcAft>
                <a:spcPts val="600"/>
              </a:spcAft>
            </a:pPr>
            <a:r>
              <a:rPr sz="1500" b="0" i="0">
                <a:solidFill>
                  <a:srgbClr val="4A5560"/>
                </a:solidFill>
                <a:latin typeface="Calibri"/>
              </a:rPr>
              <a:t>Pilot 100 ảnh BDD100K · lớp car · RTX 2060 · 22 phiên bản YOLO, 11 phiên bản SAM, cấu hình thống nhất trong từng nhóm</a:t>
            </a:r>
          </a:p>
        </p:txBody>
      </p:sp>
      <p:sp>
        <p:nvSpPr>
          <p:cNvPr id="4" name="ModelCard1"/>
          <p:cNvSpPr/>
          <p:nvPr/>
        </p:nvSpPr>
        <p:spPr>
          <a:xfrm>
            <a:off x="548640" y="1828800"/>
            <a:ext cx="3474720" cy="23317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017520" cy="731520"/>
          </a:xfrm>
          <a:prstGeom prst="rect">
            <a:avLst/>
          </a:prstGeom>
          <a:noFill/>
        </p:spPr>
        <p:txBody>
          <a:bodyPr wrap="square" anchor="t" lIns="0" rIns="0" tIns="0" bIns="0">
            <a:spAutoFit/>
          </a:bodyPr>
          <a:lstStyle/>
          <a:p>
            <a:pPr algn="l">
              <a:spcAft>
                <a:spcPts val="600"/>
              </a:spcAft>
            </a:pPr>
            <a:r>
              <a:rPr sz="2800" b="1" i="0">
                <a:solidFill>
                  <a:srgbClr val="22272E"/>
                </a:solidFill>
                <a:latin typeface="Cambria"/>
              </a:rPr>
              <a:t>2,2–2,5×</a:t>
            </a:r>
          </a:p>
        </p:txBody>
      </p:sp>
      <p:sp>
        <p:nvSpPr>
          <p:cNvPr id="6" name="TextBox 5"/>
          <p:cNvSpPr txBox="1"/>
          <p:nvPr/>
        </p:nvSpPr>
        <p:spPr>
          <a:xfrm>
            <a:off x="822960" y="2971800"/>
            <a:ext cx="3017520" cy="457200"/>
          </a:xfrm>
          <a:prstGeom prst="rect">
            <a:avLst/>
          </a:prstGeom>
          <a:noFill/>
        </p:spPr>
        <p:txBody>
          <a:bodyPr wrap="square" anchor="t" lIns="0" rIns="0" tIns="0" bIns="0">
            <a:spAutoFit/>
          </a:bodyPr>
          <a:lstStyle/>
          <a:p>
            <a:pPr algn="l">
              <a:spcAft>
                <a:spcPts val="600"/>
              </a:spcAft>
            </a:pPr>
            <a:r>
              <a:rPr sz="1600" b="1" i="0">
                <a:solidFill>
                  <a:srgbClr val="22272E"/>
                </a:solidFill>
                <a:latin typeface="Calibri"/>
              </a:rPr>
              <a:t>SAM2-T/S nhanh hơn SAM-B</a:t>
            </a:r>
          </a:p>
        </p:txBody>
      </p:sp>
      <p:sp>
        <p:nvSpPr>
          <p:cNvPr id="7" name="TextBox 6"/>
          <p:cNvSpPr txBox="1"/>
          <p:nvPr/>
        </p:nvSpPr>
        <p:spPr>
          <a:xfrm>
            <a:off x="822960" y="3429000"/>
            <a:ext cx="3017520" cy="64008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Cùng box prompt YOLOv8n cho mọi SAM</a:t>
            </a:r>
          </a:p>
        </p:txBody>
      </p:sp>
      <p:sp>
        <p:nvSpPr>
          <p:cNvPr id="8" name="ModelCard2"/>
          <p:cNvSpPr/>
          <p:nvPr/>
        </p:nvSpPr>
        <p:spPr>
          <a:xfrm>
            <a:off x="4297679" y="1828800"/>
            <a:ext cx="3474720" cy="23317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1999" y="2103120"/>
            <a:ext cx="3017520" cy="731520"/>
          </a:xfrm>
          <a:prstGeom prst="rect">
            <a:avLst/>
          </a:prstGeom>
          <a:noFill/>
        </p:spPr>
        <p:txBody>
          <a:bodyPr wrap="square" anchor="t" lIns="0" rIns="0" tIns="0" bIns="0">
            <a:spAutoFit/>
          </a:bodyPr>
          <a:lstStyle/>
          <a:p>
            <a:pPr algn="l">
              <a:spcAft>
                <a:spcPts val="600"/>
              </a:spcAft>
            </a:pPr>
            <a:r>
              <a:rPr sz="2800" b="1" i="0">
                <a:solidFill>
                  <a:srgbClr val="22272E"/>
                </a:solidFill>
                <a:latin typeface="Cambria"/>
              </a:rPr>
              <a:t>+0,012…+0,016</a:t>
            </a:r>
          </a:p>
        </p:txBody>
      </p:sp>
      <p:sp>
        <p:nvSpPr>
          <p:cNvPr id="10" name="TextBox 9"/>
          <p:cNvSpPr txBox="1"/>
          <p:nvPr/>
        </p:nvSpPr>
        <p:spPr>
          <a:xfrm>
            <a:off x="4571999" y="2971800"/>
            <a:ext cx="3017520" cy="457200"/>
          </a:xfrm>
          <a:prstGeom prst="rect">
            <a:avLst/>
          </a:prstGeom>
          <a:noFill/>
        </p:spPr>
        <p:txBody>
          <a:bodyPr wrap="square" anchor="t" lIns="0" rIns="0" tIns="0" bIns="0">
            <a:spAutoFit/>
          </a:bodyPr>
          <a:lstStyle/>
          <a:p>
            <a:pPr algn="l">
              <a:spcAft>
                <a:spcPts val="600"/>
              </a:spcAft>
            </a:pPr>
            <a:r>
              <a:rPr sz="1600" b="1" i="0">
                <a:solidFill>
                  <a:srgbClr val="22272E"/>
                </a:solidFill>
                <a:latin typeface="Calibri"/>
              </a:rPr>
              <a:t>IoU cao hơn nhẹ so với SAM-B</a:t>
            </a:r>
          </a:p>
        </p:txBody>
      </p:sp>
      <p:sp>
        <p:nvSpPr>
          <p:cNvPr id="11" name="TextBox 10"/>
          <p:cNvSpPr txBox="1"/>
          <p:nvPr/>
        </p:nvSpPr>
        <p:spPr>
          <a:xfrm>
            <a:off x="4571999" y="3429000"/>
            <a:ext cx="3017520" cy="64008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Trên 92 ảnh có prompt · chỉ mang tính khám phá</a:t>
            </a:r>
          </a:p>
        </p:txBody>
      </p:sp>
      <p:sp>
        <p:nvSpPr>
          <p:cNvPr id="12" name="ModelCard3"/>
          <p:cNvSpPr/>
          <p:nvPr/>
        </p:nvSpPr>
        <p:spPr>
          <a:xfrm>
            <a:off x="8046719" y="1828800"/>
            <a:ext cx="3474720" cy="233172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9" y="2103120"/>
            <a:ext cx="3017520" cy="731520"/>
          </a:xfrm>
          <a:prstGeom prst="rect">
            <a:avLst/>
          </a:prstGeom>
          <a:noFill/>
        </p:spPr>
        <p:txBody>
          <a:bodyPr wrap="square" anchor="t" lIns="0" rIns="0" tIns="0" bIns="0">
            <a:spAutoFit/>
          </a:bodyPr>
          <a:lstStyle/>
          <a:p>
            <a:pPr algn="l">
              <a:spcAft>
                <a:spcPts val="600"/>
              </a:spcAft>
            </a:pPr>
            <a:r>
              <a:rPr sz="2800" b="1" i="0">
                <a:solidFill>
                  <a:srgbClr val="22272E"/>
                </a:solidFill>
                <a:latin typeface="Cambria"/>
              </a:rPr>
              <a:t>14 ảnh</a:t>
            </a:r>
          </a:p>
        </p:txBody>
      </p:sp>
      <p:sp>
        <p:nvSpPr>
          <p:cNvPr id="14" name="TextBox 13"/>
          <p:cNvSpPr txBox="1"/>
          <p:nvPr/>
        </p:nvSpPr>
        <p:spPr>
          <a:xfrm>
            <a:off x="8321039" y="2971800"/>
            <a:ext cx="3017520" cy="457200"/>
          </a:xfrm>
          <a:prstGeom prst="rect">
            <a:avLst/>
          </a:prstGeom>
          <a:noFill/>
        </p:spPr>
        <p:txBody>
          <a:bodyPr wrap="square" anchor="t" lIns="0" rIns="0" tIns="0" bIns="0">
            <a:spAutoFit/>
          </a:bodyPr>
          <a:lstStyle/>
          <a:p>
            <a:pPr algn="l">
              <a:spcAft>
                <a:spcPts val="600"/>
              </a:spcAft>
            </a:pPr>
            <a:r>
              <a:rPr sz="1600" b="1" i="0">
                <a:solidFill>
                  <a:srgbClr val="22272E"/>
                </a:solidFill>
                <a:latin typeface="Calibri"/>
              </a:rPr>
              <a:t>Detection chưa xếp hạng được</a:t>
            </a:r>
          </a:p>
        </p:txBody>
      </p:sp>
      <p:sp>
        <p:nvSpPr>
          <p:cNvPr id="15" name="TextBox 14"/>
          <p:cNvSpPr txBox="1"/>
          <p:nvPr/>
        </p:nvSpPr>
        <p:spPr>
          <a:xfrm>
            <a:off x="8321039" y="3429000"/>
            <a:ext cx="3017520" cy="640080"/>
          </a:xfrm>
          <a:prstGeom prst="rect">
            <a:avLst/>
          </a:prstGeom>
          <a:noFill/>
        </p:spPr>
        <p:txBody>
          <a:bodyPr wrap="square" anchor="t" lIns="0" rIns="0" tIns="0" bIns="0">
            <a:spAutoFit/>
          </a:bodyPr>
          <a:lstStyle/>
          <a:p>
            <a:pPr algn="l">
              <a:spcAft>
                <a:spcPts val="600"/>
              </a:spcAft>
            </a:pPr>
            <a:r>
              <a:rPr sz="1300" b="0" i="0">
                <a:solidFill>
                  <a:srgbClr val="4A5560"/>
                </a:solidFill>
                <a:latin typeface="Calibri"/>
              </a:rPr>
              <a:t>Chỉ 14 ảnh (126 box) có nhãn</a:t>
            </a:r>
          </a:p>
        </p:txBody>
      </p:sp>
      <p:sp>
        <p:nvSpPr>
          <p:cNvPr id="16" name="ModelDecision"/>
          <p:cNvSpPr/>
          <p:nvPr/>
        </p:nvSpPr>
        <p:spPr>
          <a:xfrm>
            <a:off x="548640" y="4526280"/>
            <a:ext cx="11064240" cy="1234440"/>
          </a:xfrm>
          <a:prstGeom prst="roundRect">
            <a:avLst>
              <a:gd name="adj" fmla="val 8000"/>
            </a:avLst>
          </a:prstGeom>
          <a:solidFill>
            <a:srgbClr val="22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63440"/>
            <a:ext cx="10424160" cy="960120"/>
          </a:xfrm>
          <a:prstGeom prst="rect">
            <a:avLst/>
          </a:prstGeom>
          <a:noFill/>
        </p:spPr>
        <p:txBody>
          <a:bodyPr wrap="square" anchor="ctr" lIns="0" rIns="0" tIns="0" bIns="0">
            <a:spAutoFit/>
          </a:bodyPr>
          <a:lstStyle/>
          <a:p>
            <a:pPr algn="l">
              <a:spcAft>
                <a:spcPts val="600"/>
              </a:spcAft>
            </a:pPr>
            <a:r>
              <a:rPr sz="1700" b="1" i="0">
                <a:solidFill>
                  <a:srgbClr val="F2B705"/>
                </a:solidFill>
                <a:latin typeface="Calibri"/>
              </a:rPr>
              <a:t>Giữ YOLOv8n + SAM-B làm mặc định. </a:t>
            </a:r>
            <a:r>
              <a:rPr sz="1700" b="0" i="0">
                <a:solidFill>
                  <a:srgbClr val="FFFFFF"/>
                </a:solidFill>
                <a:latin typeface="Calibri"/>
              </a:rPr>
              <a:t>Các ứng viên cần được kiểm chứng trên tập ảnh mới có nhãn.</a:t>
            </a:r>
          </a:p>
          <a:p>
            <a:pPr algn="l">
              <a:spcAft>
                <a:spcPts val="600"/>
              </a:spcAft>
            </a:pPr>
            <a:r>
              <a:rPr sz="1400" b="0" i="0">
                <a:solidFill>
                  <a:srgbClr val="D5DAE0"/>
                </a:solidFill>
                <a:latin typeface="Calibri"/>
              </a:rPr>
              <a:t>Không phải kết quả đại diện cho toàn bộ BDD100K; không có model nào được coi là tốt nhất.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22272E"/>
                </a:solidFill>
                <a:latin typeface="Cambria"/>
              </a:rPr>
              <a:t>Giới hạn cần nói rõ</a:t>
            </a:r>
          </a:p>
        </p:txBody>
      </p:sp>
      <p:sp>
        <p:nvSpPr>
          <p:cNvPr id="3" name="Rounded Rectangle 2"/>
          <p:cNvSpPr/>
          <p:nvPr/>
        </p:nvSpPr>
        <p:spPr>
          <a:xfrm>
            <a:off x="548640" y="150876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9280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5" name="TextBox 4"/>
          <p:cNvSpPr txBox="1"/>
          <p:nvPr/>
        </p:nvSpPr>
        <p:spPr>
          <a:xfrm>
            <a:off x="1554480" y="169164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Mẫu nhỏ</a:t>
            </a:r>
          </a:p>
        </p:txBody>
      </p:sp>
      <p:sp>
        <p:nvSpPr>
          <p:cNvPr id="6" name="TextBox 5"/>
          <p:cNvSpPr txBox="1"/>
          <p:nvPr/>
        </p:nvSpPr>
        <p:spPr>
          <a:xfrm>
            <a:off x="1554480" y="210312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100 ảnh, 1 lớp, 13 ca sửa mỗi task — không đại diện BDD100K</a:t>
            </a:r>
          </a:p>
        </p:txBody>
      </p:sp>
      <p:sp>
        <p:nvSpPr>
          <p:cNvPr id="7" name="Rounded Rectangle 6"/>
          <p:cNvSpPr/>
          <p:nvPr/>
        </p:nvSpPr>
        <p:spPr>
          <a:xfrm>
            <a:off x="6172200" y="150876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46520" y="189280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9" name="TextBox 8"/>
          <p:cNvSpPr txBox="1"/>
          <p:nvPr/>
        </p:nvSpPr>
        <p:spPr>
          <a:xfrm>
            <a:off x="7178040" y="169164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Baseline giả định</a:t>
            </a:r>
          </a:p>
        </p:txBody>
      </p:sp>
      <p:sp>
        <p:nvSpPr>
          <p:cNvPr id="10" name="TextBox 9"/>
          <p:cNvSpPr txBox="1"/>
          <p:nvPr/>
        </p:nvSpPr>
        <p:spPr>
          <a:xfrm>
            <a:off x="7178040" y="210312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Hằng số thời gian sửa đặt tay; điểm chất lượng chưa kiểm chứng</a:t>
            </a:r>
          </a:p>
        </p:txBody>
      </p:sp>
      <p:sp>
        <p:nvSpPr>
          <p:cNvPr id="11" name="Rounded Rectangle 10"/>
          <p:cNvSpPr/>
          <p:nvPr/>
        </p:nvSpPr>
        <p:spPr>
          <a:xfrm>
            <a:off x="548640" y="297180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35584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3" name="TextBox 12"/>
          <p:cNvSpPr txBox="1"/>
          <p:nvPr/>
        </p:nvSpPr>
        <p:spPr>
          <a:xfrm>
            <a:off x="1554480" y="315468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SAM</a:t>
            </a:r>
          </a:p>
        </p:txBody>
      </p:sp>
      <p:sp>
        <p:nvSpPr>
          <p:cNvPr id="14" name="TextBox 13"/>
          <p:cNvSpPr txBox="1"/>
          <p:nvPr/>
        </p:nvSpPr>
        <p:spPr>
          <a:xfrm>
            <a:off x="1554480" y="356616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Không có confidence riêng; dùng confidence box YOLO</a:t>
            </a:r>
          </a:p>
        </p:txBody>
      </p:sp>
      <p:sp>
        <p:nvSpPr>
          <p:cNvPr id="15" name="Rounded Rectangle 14"/>
          <p:cNvSpPr/>
          <p:nvPr/>
        </p:nvSpPr>
        <p:spPr>
          <a:xfrm>
            <a:off x="6172200" y="297180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335584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4</a:t>
            </a:r>
          </a:p>
        </p:txBody>
      </p:sp>
      <p:sp>
        <p:nvSpPr>
          <p:cNvPr id="17" name="TextBox 16"/>
          <p:cNvSpPr txBox="1"/>
          <p:nvPr/>
        </p:nvSpPr>
        <p:spPr>
          <a:xfrm>
            <a:off x="7178040" y="315468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Đo lường</a:t>
            </a:r>
          </a:p>
        </p:txBody>
      </p:sp>
      <p:sp>
        <p:nvSpPr>
          <p:cNvPr id="18" name="TextBox 17"/>
          <p:cNvSpPr txBox="1"/>
          <p:nvPr/>
        </p:nvSpPr>
        <p:spPr>
          <a:xfrm>
            <a:off x="7178040" y="356616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Thời gian sửa do nhóm ghi; không có đánh giá với ground truth</a:t>
            </a:r>
          </a:p>
        </p:txBody>
      </p:sp>
      <p:sp>
        <p:nvSpPr>
          <p:cNvPr id="19" name="Rounded Rectangle 18"/>
          <p:cNvSpPr/>
          <p:nvPr/>
        </p:nvSpPr>
        <p:spPr>
          <a:xfrm>
            <a:off x="548640" y="443484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481888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5</a:t>
            </a:r>
          </a:p>
        </p:txBody>
      </p:sp>
      <p:sp>
        <p:nvSpPr>
          <p:cNvPr id="21" name="TextBox 20"/>
          <p:cNvSpPr txBox="1"/>
          <p:nvPr/>
        </p:nvSpPr>
        <p:spPr>
          <a:xfrm>
            <a:off x="1554480" y="461772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Ngưỡng do M31 chọn</a:t>
            </a:r>
          </a:p>
        </p:txBody>
      </p:sp>
      <p:sp>
        <p:nvSpPr>
          <p:cNvPr id="22" name="TextBox 21"/>
          <p:cNvSpPr txBox="1"/>
          <p:nvPr/>
        </p:nvSpPr>
        <p:spPr>
          <a:xfrm>
            <a:off x="1554480" y="502920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Confidence thấp &lt; 0,5; box nhỏ &lt; 32×32 px</a:t>
            </a:r>
          </a:p>
        </p:txBody>
      </p:sp>
      <p:sp>
        <p:nvSpPr>
          <p:cNvPr id="23" name="Rounded Rectangle 22"/>
          <p:cNvSpPr/>
          <p:nvPr/>
        </p:nvSpPr>
        <p:spPr>
          <a:xfrm>
            <a:off x="6172200" y="4434840"/>
            <a:ext cx="5440680" cy="128016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6520" y="4818888"/>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6</a:t>
            </a:r>
          </a:p>
        </p:txBody>
      </p:sp>
      <p:sp>
        <p:nvSpPr>
          <p:cNvPr id="25" name="TextBox 24"/>
          <p:cNvSpPr txBox="1"/>
          <p:nvPr/>
        </p:nvSpPr>
        <p:spPr>
          <a:xfrm>
            <a:off x="7178040" y="4617720"/>
            <a:ext cx="4206240" cy="411480"/>
          </a:xfrm>
          <a:prstGeom prst="rect">
            <a:avLst/>
          </a:prstGeom>
          <a:noFill/>
        </p:spPr>
        <p:txBody>
          <a:bodyPr wrap="square" anchor="t" lIns="0" rIns="0" tIns="0" bIns="0">
            <a:spAutoFit/>
          </a:bodyPr>
          <a:lstStyle/>
          <a:p>
            <a:pPr algn="l">
              <a:spcAft>
                <a:spcPts val="600"/>
              </a:spcAft>
            </a:pPr>
            <a:r>
              <a:rPr sz="1800" b="1" i="0">
                <a:solidFill>
                  <a:srgbClr val="22272E"/>
                </a:solidFill>
                <a:latin typeface="Calibri"/>
              </a:rPr>
              <a:t>Quyết định</a:t>
            </a:r>
          </a:p>
        </p:txBody>
      </p:sp>
      <p:sp>
        <p:nvSpPr>
          <p:cNvPr id="26" name="TextBox 25"/>
          <p:cNvSpPr txBox="1"/>
          <p:nvPr/>
        </p:nvSpPr>
        <p:spPr>
          <a:xfrm>
            <a:off x="7178040" y="5029200"/>
            <a:ext cx="4206240" cy="640080"/>
          </a:xfrm>
          <a:prstGeom prst="rect">
            <a:avLst/>
          </a:prstGeom>
          <a:noFill/>
        </p:spPr>
        <p:txBody>
          <a:bodyPr wrap="square" anchor="t" lIns="0" rIns="0" tIns="0" bIns="0">
            <a:spAutoFit/>
          </a:bodyPr>
          <a:lstStyle/>
          <a:p>
            <a:pPr algn="l">
              <a:spcAft>
                <a:spcPts val="600"/>
              </a:spcAft>
            </a:pPr>
            <a:r>
              <a:rPr sz="1400" b="0" i="0">
                <a:solidFill>
                  <a:srgbClr val="4A5560"/>
                </a:solidFill>
                <a:latin typeface="Calibri"/>
              </a:rPr>
              <a:t>Không bật mô hình hiệu chỉnh; không tuyên bố độ chính xác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2272E"/>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anchor="t" lIns="0" rIns="0" tIns="0" bIns="0">
            <a:spAutoFit/>
          </a:bodyPr>
          <a:lstStyle/>
          <a:p>
            <a:pPr algn="l">
              <a:spcAft>
                <a:spcPts val="600"/>
              </a:spcAft>
            </a:pPr>
            <a:r>
              <a:rPr sz="3400" b="1" i="0">
                <a:solidFill>
                  <a:srgbClr val="FFFFFF"/>
                </a:solidFill>
                <a:latin typeface="Cambria"/>
              </a:rPr>
              <a:t>Bước tiếp theo</a:t>
            </a:r>
          </a:p>
        </p:txBody>
      </p:sp>
      <p:sp>
        <p:nvSpPr>
          <p:cNvPr id="3" name="Oval 2"/>
          <p:cNvSpPr/>
          <p:nvPr/>
        </p:nvSpPr>
        <p:spPr>
          <a:xfrm>
            <a:off x="548640" y="164592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1</a:t>
            </a:r>
          </a:p>
        </p:txBody>
      </p:sp>
      <p:sp>
        <p:nvSpPr>
          <p:cNvPr id="4" name="TextBox 3"/>
          <p:cNvSpPr txBox="1"/>
          <p:nvPr/>
        </p:nvSpPr>
        <p:spPr>
          <a:xfrm>
            <a:off x="1325880" y="160020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Thêm dữ liệu sửa</a:t>
            </a:r>
          </a:p>
        </p:txBody>
      </p:sp>
      <p:sp>
        <p:nvSpPr>
          <p:cNvPr id="5" name="TextBox 4"/>
          <p:cNvSpPr txBox="1"/>
          <p:nvPr/>
        </p:nvSpPr>
        <p:spPr>
          <a:xfrm>
            <a:off x="1325880" y="205740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 50 ca cần sửa mỗi task để fold kiểm tra không chỉ có 2–3 ca</a:t>
            </a:r>
          </a:p>
        </p:txBody>
      </p:sp>
      <p:sp>
        <p:nvSpPr>
          <p:cNvPr id="6" name="Oval 5"/>
          <p:cNvSpPr/>
          <p:nvPr/>
        </p:nvSpPr>
        <p:spPr>
          <a:xfrm>
            <a:off x="548640" y="29718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2</a:t>
            </a:r>
          </a:p>
        </p:txBody>
      </p:sp>
      <p:sp>
        <p:nvSpPr>
          <p:cNvPr id="7" name="TextBox 6"/>
          <p:cNvSpPr txBox="1"/>
          <p:nvPr/>
        </p:nvSpPr>
        <p:spPr>
          <a:xfrm>
            <a:off x="1325880" y="292608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Đăng ký trước mô hình nhỏ</a:t>
            </a:r>
          </a:p>
        </p:txBody>
      </p:sp>
      <p:sp>
        <p:nvSpPr>
          <p:cNvPr id="8" name="TextBox 7"/>
          <p:cNvSpPr txBox="1"/>
          <p:nvPr/>
        </p:nvSpPr>
        <p:spPr>
          <a:xfrm>
            <a:off x="1325880" y="338328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Logistic trên chồng lấn box, độ lấp mask, số box — đánh giá trên ảnh mới</a:t>
            </a:r>
          </a:p>
        </p:txBody>
      </p:sp>
      <p:sp>
        <p:nvSpPr>
          <p:cNvPr id="9" name="Oval 8"/>
          <p:cNvSpPr/>
          <p:nvPr/>
        </p:nvSpPr>
        <p:spPr>
          <a:xfrm>
            <a:off x="548640" y="42976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2272E"/>
                </a:solidFill>
                <a:latin typeface="Calibri"/>
              </a:rPr>
              <a:t>3</a:t>
            </a:r>
          </a:p>
        </p:txBody>
      </p:sp>
      <p:sp>
        <p:nvSpPr>
          <p:cNvPr id="10" name="TextBox 9"/>
          <p:cNvSpPr txBox="1"/>
          <p:nvPr/>
        </p:nvSpPr>
        <p:spPr>
          <a:xfrm>
            <a:off x="1325880" y="4251960"/>
            <a:ext cx="1005840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Đặc trưng ảnh</a:t>
            </a:r>
          </a:p>
        </p:txBody>
      </p:sp>
      <p:sp>
        <p:nvSpPr>
          <p:cNvPr id="11" name="TextBox 10"/>
          <p:cNvSpPr txBox="1"/>
          <p:nvPr/>
        </p:nvSpPr>
        <p:spPr>
          <a:xfrm>
            <a:off x="1325880" y="4709160"/>
            <a:ext cx="10058400" cy="548640"/>
          </a:xfrm>
          <a:prstGeom prst="rect">
            <a:avLst/>
          </a:prstGeom>
          <a:noFill/>
        </p:spPr>
        <p:txBody>
          <a:bodyPr wrap="square" anchor="t" lIns="0" rIns="0" tIns="0" bIns="0">
            <a:spAutoFit/>
          </a:bodyPr>
          <a:lstStyle/>
          <a:p>
            <a:pPr algn="l">
              <a:spcAft>
                <a:spcPts val="600"/>
              </a:spcAft>
            </a:pPr>
            <a:r>
              <a:rPr sz="1500" b="0" i="0">
                <a:solidFill>
                  <a:srgbClr val="D5DAE0"/>
                </a:solidFill>
                <a:latin typeface="Calibri"/>
              </a:rPr>
              <a:t>Nếu có ảnh gốc: ban đêm, mưa, độ sáng — vẫn chỉ dùng thông tin trước khi sửa</a:t>
            </a:r>
          </a:p>
        </p:txBody>
      </p:sp>
      <p:sp>
        <p:nvSpPr>
          <p:cNvPr id="12" name="Rectangle 11"/>
          <p:cNvSpPr/>
          <p:nvPr/>
        </p:nvSpPr>
        <p:spPr>
          <a:xfrm>
            <a:off x="5486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460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19"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378440" y="5806440"/>
            <a:ext cx="1097280" cy="109728"/>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M31 · Auto-Label Correction Estimator</dc:title>
  <dc:subject>Pilot 100 ảnh BDD100K</dc:subject>
  <dc:creator>Nhóm M31</dc:creator>
  <cp:keywords/>
  <dc:description/>
  <cp:lastModifiedBy>Nhóm M31</cp:lastModifiedBy>
  <cp:revision>1</cp:revision>
  <dcterms:created xsi:type="dcterms:W3CDTF">2026-10-18T00:45:12Z</dcterms:created>
  <dcterms:modified xsi:type="dcterms:W3CDTF">2026-10-18T23:48:57Z</dcterms:modified>
  <cp:category/>
</cp:coreProperties>
</file>